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371600"/>
            <a:ext cx="3657600" cy="3657600"/>
          </a:xfrm>
          <a:prstGeom prst="ellipse">
            <a:avLst/>
          </a:prstGeom>
          <a:solidFill>
            <a:srgbClr val="08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1828800"/>
            <a:ext cx="2743200" cy="2743200"/>
          </a:xfrm>
          <a:prstGeom prst="ellipse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Calibri"/>
              </a:defRPr>
            </a:pPr>
            <a:r>
              <a:t>EdgeTwin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  <a:latin typeface="Calibri"/>
              </a:defRPr>
            </a:pPr>
            <a:r>
              <a:t>Next-Generation Operator-First Cyber-Physical</a:t>
            </a:r>
            <a:br/>
            <a:r>
              <a:t>Digital Twin with Edge ML &amp; GenAI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Tata Hackathon 2026  •  Smart Manufacturing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⚡ ONNX Edge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02920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⚡ WebGL 3D Twin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502920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⚡ GenAI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THE SHOP FLOOR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Why existing industrial dashboards fail front-line operators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004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Calibri"/>
              </a:defRPr>
            </a:pPr>
            <a:r>
              <a:t>⚠️  Alert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Operators face jargon-heavy codes</a:t>
            </a:r>
            <a:br/>
            <a:r>
              <a:t>(P12, MTTR, std_dev) under pressure.</a:t>
            </a:r>
            <a:br/>
            <a:r>
              <a:t>False positives erode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32004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☁️  Cloud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74320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Streaming high-frequency telemetry</a:t>
            </a:r>
            <a:br/>
            <a:r>
              <a:t>to the cloud is expensive, laggy,</a:t>
            </a:r>
            <a:br/>
            <a:r>
              <a:t>and fails during network outages.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9" y="1828800"/>
            <a:ext cx="3383280" cy="32004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🔧  No Actionable Closure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74320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Tools predict WHEN failure occurs</a:t>
            </a:r>
            <a:br/>
            <a:r>
              <a:t>but don't help operators HOW to</a:t>
            </a:r>
            <a:br/>
            <a:r>
              <a:t>safely secure the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0E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₹18L+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806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Cost per hour of</a:t>
            </a:r>
            <a:br/>
            <a:r>
              <a:t>unplanned downtime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440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806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Operators ignore alerts</a:t>
            </a:r>
            <a:br/>
            <a:r>
              <a:t>due to false positives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440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806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Factories lack offline</a:t>
            </a:r>
            <a:br/>
            <a:r>
              <a:t>diagnostic capability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THE OPERATOR-FIRST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 single-screen, zero-scroll, no-jargon industrial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📸  Insert Dashboard Screenshot Here</a:t>
            </a:r>
            <a:br/>
            <a:r>
              <a:t>(Full command center layout)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45920"/>
            <a:ext cx="365760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🟢 Status Beacon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9933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Giant animated indicator</a:t>
            </a:r>
            <a:br/>
            <a:r>
              <a:t>visible from across the</a:t>
            </a:r>
            <a:br/>
            <a:r>
              <a:t>factory floor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697480"/>
            <a:ext cx="365760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📊 Sensor Strip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449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sensor readings in</a:t>
            </a:r>
            <a:br/>
            <a:r>
              <a:t>a compact horizontal</a:t>
            </a:r>
            <a:br/>
            <a:r>
              <a:t>bar at the bottom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749040"/>
            <a:ext cx="365760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⚙️ Hidden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0965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Admin/engineering tools</a:t>
            </a:r>
            <a:br/>
            <a:r>
              <a:t>hidden behind a gear</a:t>
            </a:r>
            <a:br/>
            <a:r>
              <a:t>icon for operators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800599"/>
            <a:ext cx="365760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8463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🧠 AI Advisor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148071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Natural language</a:t>
            </a:r>
            <a:br/>
            <a:r>
              <a:t>explanations for every</a:t>
            </a:r>
            <a:br/>
            <a:r>
              <a:t>anomaly 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INNOVATION 1: CLIENT-SIDE EDGE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  <a:latin typeface="Calibri"/>
              </a:defRPr>
            </a:pPr>
            <a:r>
              <a:t>High-availability offline inference — runs 100% in the operator's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Calibri"/>
              </a:defRPr>
            </a:pPr>
            <a:r>
              <a:t>🔌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telemetry</a:t>
            </a:r>
            <a:br/>
            <a:r>
              <a:t>from MQTT/Sim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645920"/>
            <a:ext cx="201168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Calibri"/>
              </a:defRPr>
            </a:pPr>
            <a:r>
              <a:t>📦 Rolling Buffer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20-tick window</a:t>
            </a:r>
            <a:br/>
            <a:r>
              <a:t>in browser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645920"/>
            <a:ext cx="201168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Calibri"/>
              </a:defRPr>
            </a:pPr>
            <a:r>
              <a:t>📐 Feature Eng.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Mean, Std, Rate</a:t>
            </a:r>
            <a:br/>
            <a:r>
              <a:t>Min, Max,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59" y="1645920"/>
            <a:ext cx="201168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799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Calibri"/>
              </a:defRPr>
            </a:pPr>
            <a:r>
              <a:t>🧠 ONNX WASM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799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Isolation Forest</a:t>
            </a:r>
            <a:br/>
            <a:r>
              <a:t>+ 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645920"/>
            <a:ext cx="2011680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Calibri"/>
              </a:defRPr>
            </a:pPr>
            <a:r>
              <a:t>✅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State + RUL</a:t>
            </a:r>
            <a:br/>
            <a:r>
              <a:t>+ Anomaly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3383280" cy="1371600"/>
          </a:xfrm>
          <a:prstGeom prst="roundRect">
            <a:avLst/>
          </a:prstGeom>
          <a:solidFill>
            <a:srgbClr val="0E25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✅ Zero Cloud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Inference runs on the</a:t>
            </a:r>
            <a:br/>
            <a:r>
              <a:t>operator's local terminal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4114800"/>
            <a:ext cx="3383280" cy="1371600"/>
          </a:xfrm>
          <a:prstGeom prst="roundRect">
            <a:avLst/>
          </a:prstGeom>
          <a:solidFill>
            <a:srgbClr val="0E25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✅ Offline Survivable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Diagnostics persist during</a:t>
            </a:r>
            <a:br/>
            <a:r>
              <a:t>complete network outages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114800"/>
            <a:ext cx="3383280" cy="1371600"/>
          </a:xfrm>
          <a:prstGeom prst="roundRect">
            <a:avLst/>
          </a:prstGeom>
          <a:solidFill>
            <a:srgbClr val="0E25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✅ Millisecond Latency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WASM SIMD multi-threaded</a:t>
            </a:r>
            <a:br/>
            <a:r>
              <a:t>execution in the browser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INNOVATION 2: VOLUMETRIC 3D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Photorealistic CAD rendering with real-time shader diagnostics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926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📸  Air Compressor Model</a:t>
            </a:r>
            <a:br/>
            <a:r>
              <a:t>Insert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Chevron flow shaders • Pressure gauge • Cooling coils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212080" cy="29260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📸  CNC Milling Machine</a:t>
            </a:r>
            <a:br/>
            <a:r>
              <a:t>Insert Screenshot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Calibri"/>
              </a:defRPr>
            </a:pPr>
            <a:r>
              <a:t>Spark emitters • Stack light • Drill retraction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25603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Custom GLSL Shaders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Fluid flow + thermal glow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937760"/>
            <a:ext cx="25603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Drag-Drop CAD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GLTF/GLB auto-normalization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937760"/>
            <a:ext cx="25603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Time-Travel Playback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Scrub through past incidents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937760"/>
            <a:ext cx="25603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Hotspot Inspection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Click mesh to view sensor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INNOVATION 3: GenAI &amp; CLOSED-LOOP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Calibri"/>
              </a:defRPr>
            </a:pPr>
            <a:r>
              <a:t>From detection to action — automated machine-specific safety scripts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🧠 AI Copilot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"Temperature sensor exceeds critical threshold at 98°C.</a:t>
            </a:r>
            <a:br/>
            <a:r>
              <a:t>Vibration readings are abnormally low, suggesting</a:t>
            </a:r>
            <a:br/>
            <a:r>
              <a:t>pump cavitation. Recommended actions:</a:t>
            </a:r>
            <a:br/>
            <a:br/>
            <a:r>
              <a:t>1. Reduce compressor load to 50%</a:t>
            </a:r>
            <a:br/>
            <a:r>
              <a:t>2. Activate auxiliary cooling circuit</a:t>
            </a:r>
            <a:br/>
            <a:r>
              <a:t>3. Schedule bearing inspection within 24 hours"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📄 G-Code (CNC Mill)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urier New"/>
              </a:defRPr>
            </a:pPr>
            <a:r>
              <a:t>G90</a:t>
            </a:r>
            <a:br/>
            <a:r>
              <a:t>M05  ; Stop spindle</a:t>
            </a:r>
            <a:br/>
            <a:r>
              <a:t>G00 Z10.0  ; Retract tool</a:t>
            </a:r>
            <a:br/>
            <a:r>
              <a:t>G00 X0 Y0  ; Safe position</a:t>
            </a:r>
            <a:br/>
            <a:r>
              <a:t>M09  ; Coolant off</a:t>
            </a:r>
            <a:br/>
            <a:r>
              <a:t>M30  ; End program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📄 PLC Structured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urier New"/>
              </a:defRPr>
            </a:pPr>
            <a:r>
              <a:t>CompressorSolenoid := FALSE;</a:t>
            </a:r>
            <a:br/>
            <a:r>
              <a:t>PressureRelease := TRUE;</a:t>
            </a:r>
            <a:br/>
            <a:r>
              <a:t>CoolingFan := TRUE;</a:t>
            </a:r>
            <a:br/>
            <a:r>
              <a:t>MainMotor := FALSE;</a:t>
            </a:r>
            <a:br/>
            <a:r>
              <a:t>AlertBeacon := TRUE;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ALIGNMENT WITH TATA GROUP VERTICALS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Direct, high-value applications across Tata's industrial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🏭  TATA STEEL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TARGET MACHINERY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Blast furnace pumps</a:t>
            </a:r>
            <a:br/>
            <a:r>
              <a:t>Cold rolling mills</a:t>
            </a:r>
            <a:br/>
            <a:r>
              <a:t>Bearing vibration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EDGETWIN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Calibri"/>
              </a:defRPr>
            </a:pPr>
            <a:r>
              <a:t>Volumetric flow shaders</a:t>
            </a:r>
            <a:br/>
            <a:r>
              <a:t>Anomaly detection</a:t>
            </a:r>
            <a:br/>
            <a:r>
              <a:t>Incident time-travel replay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56616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🚗  TATA MOTORS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TARGET MACHINERY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CNC spindle motors</a:t>
            </a:r>
            <a:br/>
            <a:r>
              <a:t>Feed drives &amp; welding arms</a:t>
            </a:r>
            <a:br/>
            <a:r>
              <a:t>Tool wear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931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EDGETWIN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alibri"/>
              </a:defRPr>
            </a:pPr>
            <a:r>
              <a:t>Spark particle emitters</a:t>
            </a:r>
            <a:br/>
            <a:r>
              <a:t>Drill retraction simulation</a:t>
            </a:r>
            <a:br/>
            <a:r>
              <a:t>G-Code auto-generation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56616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⚡  TATA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TARGET MACHINERY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517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Steam turbines &amp; boilers</a:t>
            </a:r>
            <a:br/>
            <a:r>
              <a:t>Distributed generator sets</a:t>
            </a:r>
            <a:br/>
            <a:r>
              <a:t>Remote substations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931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EDGETWIN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062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t>Offline edge survivability</a:t>
            </a:r>
            <a:br/>
            <a:r>
              <a:t>Thermal heat glow viz</a:t>
            </a:r>
            <a:br/>
            <a:r>
              <a:t>PLC override scripts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QUANTIFIABLE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Measurable bottom-line impact from Day 1 deployment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2011680" cy="201168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System</a:t>
            </a:r>
            <a:br/>
            <a:r>
              <a:t>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Edge inference survives</a:t>
            </a:r>
            <a:br/>
            <a:r>
              <a:t>complete network outages</a:t>
            </a:r>
          </a:p>
        </p:txBody>
      </p:sp>
      <p:sp>
        <p:nvSpPr>
          <p:cNvPr id="9" name="Oval 8"/>
          <p:cNvSpPr/>
          <p:nvPr/>
        </p:nvSpPr>
        <p:spPr>
          <a:xfrm>
            <a:off x="3840480" y="1828800"/>
            <a:ext cx="2011680" cy="201168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Calibri"/>
              </a:defRPr>
            </a:pPr>
            <a:r>
              <a:t>-30%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Calibri"/>
              </a:defRPr>
            </a:pPr>
            <a:r>
              <a:t>Mean Time</a:t>
            </a:r>
            <a:br/>
            <a:r>
              <a:t>to Repair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Auto-generated remediation</a:t>
            </a:r>
            <a:br/>
            <a:r>
              <a:t>eliminates waiting for engineers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1828800"/>
            <a:ext cx="2011680" cy="201168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₹0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Additional Cloud</a:t>
            </a:r>
            <a:br/>
            <a:r>
              <a:t>Inference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WASM runs on existing</a:t>
            </a:r>
            <a:br/>
            <a:r>
              <a:t>operator terminals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0" y="1828800"/>
            <a:ext cx="2011680" cy="201168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State Classification</a:t>
            </a:r>
            <a:br/>
            <a: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114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Calibrated ONNX models</a:t>
            </a:r>
            <a:br/>
            <a:r>
              <a:t>on steady-state conditions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0E25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"By shifting ML inference from cloud to edge, EdgeTwin Copilot eliminates per-query API costs</a:t>
            </a:r>
            <a:br/>
            <a:r>
              <a:t>and scales to thousands of active operator terminals without requiring centralized GPU clusters."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Secure, decentralized data flow with plug-and-play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INDUSTRIAL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PLC / SCADA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MQTT Broker /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Real-time telemetry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BACKEND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Python FastAPI + Uvicorn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ONNX Model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WebSocket Hub + Alert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59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GenAI Layer (Groq / Ollama)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CLIENT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React + Vite + Three.js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ONNX Runtime Web (WASM)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Rolling Buffer Feature Eng.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59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WebGL Canvas + GLSL Shaders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⬇  WebSocket / REST  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⬇  WebSocket / REST  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5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3657600"/>
            <a:ext cx="4572000" cy="4572000"/>
          </a:xfrm>
          <a:prstGeom prst="ellipse">
            <a:avLst/>
          </a:prstGeom>
          <a:solidFill>
            <a:srgbClr val="08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Calibri"/>
              </a:defRPr>
            </a:pPr>
            <a:r>
              <a:t>The Cyber-Physical Future</a:t>
            </a:r>
            <a:br/>
            <a:r>
              <a:t>of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EdgeTwin Copilot merges edge computing, interactive WebGL, and generative AI</a:t>
            </a:r>
            <a:br/>
            <a:r>
              <a:t>into a single, intuitive, operator-first workspace.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931920"/>
            <a:ext cx="2286000" cy="11887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⚡ Edge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4434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Offline ONNX</a:t>
            </a:r>
            <a:br/>
            <a:r>
              <a:t>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931920"/>
            <a:ext cx="2286000" cy="11887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🏭 3D 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4434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Volumetric</a:t>
            </a:r>
            <a:br/>
            <a:r>
              <a:t>CAD shaders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931920"/>
            <a:ext cx="2286000" cy="11887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🧠 GenAI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434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Closed-loop</a:t>
            </a:r>
            <a:br/>
            <a:r>
              <a:t>remediation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Thank You!  •  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